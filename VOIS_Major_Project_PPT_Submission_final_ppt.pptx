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8"/>
  </p:notesMasterIdLst>
  <p:handoutMasterIdLst>
    <p:handoutMasterId r:id="rId29"/>
  </p:handoutMasterIdLst>
  <p:sldIdLst>
    <p:sldId id="338" r:id="rId5"/>
    <p:sldId id="327" r:id="rId6"/>
    <p:sldId id="315" r:id="rId7"/>
    <p:sldId id="329" r:id="rId8"/>
    <p:sldId id="302" r:id="rId9"/>
    <p:sldId id="339" r:id="rId10"/>
    <p:sldId id="340" r:id="rId11"/>
    <p:sldId id="348" r:id="rId12"/>
    <p:sldId id="349" r:id="rId13"/>
    <p:sldId id="350" r:id="rId14"/>
    <p:sldId id="347" r:id="rId15"/>
    <p:sldId id="351" r:id="rId16"/>
    <p:sldId id="353" r:id="rId17"/>
    <p:sldId id="354" r:id="rId18"/>
    <p:sldId id="355" r:id="rId19"/>
    <p:sldId id="352" r:id="rId20"/>
    <p:sldId id="356" r:id="rId21"/>
    <p:sldId id="358" r:id="rId22"/>
    <p:sldId id="359" r:id="rId23"/>
    <p:sldId id="341" r:id="rId24"/>
    <p:sldId id="342" r:id="rId25"/>
    <p:sldId id="343" r:id="rId26"/>
    <p:sldId id="304"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69" d="100"/>
          <a:sy n="69" d="100"/>
        </p:scale>
        <p:origin x="696" y="54"/>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9/6/2026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9/6/2026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9/6/2026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9/6/2026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9/6/2026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75956" y="3521161"/>
            <a:ext cx="8107825" cy="861497"/>
          </a:xfrm>
        </p:spPr>
        <p:txBody>
          <a:bodyPr vert="horz" lIns="91440" tIns="45720" rIns="91440" bIns="45720" rtlCol="0" anchor="t">
            <a:normAutofit fontScale="85000" lnSpcReduction="20000"/>
          </a:bodyPr>
          <a:lstStyle/>
          <a:p>
            <a:r>
              <a:rPr lang="en-US" dirty="0">
                <a:solidFill>
                  <a:schemeClr val="tx1"/>
                </a:solidFill>
              </a:rPr>
              <a:t>Student Name </a:t>
            </a:r>
            <a:r>
              <a:rPr lang="en-US" b="0" dirty="0">
                <a:solidFill>
                  <a:schemeClr val="tx1"/>
                </a:solidFill>
              </a:rPr>
              <a:t>: Vaidehi Sudhir Kingaonkar </a:t>
            </a:r>
            <a:endParaRPr lang="en-IN" b="0" dirty="0">
              <a:solidFill>
                <a:schemeClr val="tx1"/>
              </a:solidFill>
            </a:endParaRPr>
          </a:p>
          <a:p>
            <a:r>
              <a:rPr lang="en-US" dirty="0">
                <a:solidFill>
                  <a:schemeClr val="tx1"/>
                </a:solidFill>
              </a:rPr>
              <a:t>College Name- </a:t>
            </a:r>
            <a:r>
              <a:rPr lang="en-US" b="0" dirty="0">
                <a:solidFill>
                  <a:schemeClr val="tx1"/>
                </a:solidFill>
              </a:rPr>
              <a:t>Pune District Education Association’s College of Engineering, Manjari Bk., Hadapsar, Pune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3" y="2844750"/>
            <a:ext cx="9920363" cy="743448"/>
          </a:xfrm>
        </p:spPr>
        <p:txBody>
          <a:bodyPr>
            <a:normAutofit fontScale="90000"/>
          </a:bodyPr>
          <a:lstStyle/>
          <a:p>
            <a:r>
              <a:rPr lang="en-GB" sz="3200" dirty="0"/>
              <a:t>Project Title - </a:t>
            </a:r>
            <a:r>
              <a:rPr lang="en-IN" sz="3200" dirty="0"/>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75956" y="4457792"/>
            <a:ext cx="4154921" cy="646331"/>
          </a:xfrm>
          <a:prstGeom prst="rect">
            <a:avLst/>
          </a:prstGeom>
          <a:noFill/>
        </p:spPr>
        <p:txBody>
          <a:bodyPr wrap="square" rtlCol="0">
            <a:spAutoFit/>
          </a:bodyPr>
          <a:lstStyle/>
          <a:p>
            <a:r>
              <a:rPr lang="en-US" b="1" dirty="0"/>
              <a:t>AICTE STU ID : </a:t>
            </a:r>
            <a:r>
              <a:rPr lang="en-IN" dirty="0"/>
              <a:t>STU6a64ebf7392ac1784998903 </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7500" lnSpcReduction="20000"/>
          </a:bodyPr>
          <a:lstStyle/>
          <a:p>
            <a:pPr marL="0" indent="0">
              <a:lnSpc>
                <a:spcPct val="150000"/>
              </a:lnSpc>
              <a:buNone/>
            </a:pPr>
            <a:r>
              <a:rPr lang="en-US" sz="2800" dirty="0"/>
              <a:t>Agricultural performance is influenced by seasonal variations in environmental conditions, resource availability and market conditions. This project analyzes the given agricultural dataset to investigate how performance differs across the Kharif, Rabi and Zaid seasons, and to identify meaningful patterns, trends and relationships within the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r>
              <a:rPr lang="en-US" sz="2700" dirty="0"/>
              <a:t>Data analytics project analyzing seasonal agricultural performance (Kharif, Rabi, Zaid) across Indian farms — yield, cost, profit, and resource usage trends using Python, Pandas, and Seaborn.</a:t>
            </a:r>
            <a:br>
              <a:rPr lang="en-GB" sz="2200" dirty="0"/>
            </a:br>
            <a:endParaRPr lang="en-IN" sz="22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Autofit/>
          </a:bodyPr>
          <a:lstStyle/>
          <a:p>
            <a:pPr marL="0" indent="0" algn="just">
              <a:lnSpc>
                <a:spcPct val="150000"/>
              </a:lnSpc>
              <a:buNone/>
            </a:pPr>
            <a:r>
              <a:rPr lang="en-US" b="1" dirty="0"/>
              <a:t>Farmers</a:t>
            </a:r>
            <a:r>
              <a:rPr lang="en-US" dirty="0"/>
              <a:t> — to decide which season and crop gives better yield and profit </a:t>
            </a:r>
            <a:r>
              <a:rPr lang="en-US" b="1" dirty="0"/>
              <a:t>Agricultural policymakers / government bodies</a:t>
            </a:r>
            <a:r>
              <a:rPr lang="en-US" dirty="0"/>
              <a:t> — to plan seasonal support, subsidies, or resource allocation by region </a:t>
            </a:r>
            <a:r>
              <a:rPr lang="en-US" b="1" dirty="0"/>
              <a:t>Agri-business and supply chain companies</a:t>
            </a:r>
            <a:r>
              <a:rPr lang="en-US" dirty="0"/>
              <a:t> — to forecast production and plan procurement by season </a:t>
            </a:r>
            <a:r>
              <a:rPr lang="en-US" b="1" dirty="0"/>
              <a:t>Researchers and agricultural scientists</a:t>
            </a:r>
            <a:r>
              <a:rPr lang="en-US" dirty="0"/>
              <a:t> — to study seasonal patterns and environmental impact on farming </a:t>
            </a:r>
            <a:r>
              <a:rPr lang="en-US" b="1" dirty="0"/>
              <a:t>Banks and insurance providers</a:t>
            </a:r>
            <a:r>
              <a:rPr lang="en-US" dirty="0"/>
              <a:t> — to assess seasonal risk before offering farm loans or crop insurance </a:t>
            </a:r>
            <a:r>
              <a:rPr lang="en-US" b="1" dirty="0"/>
              <a:t>NGOs / agricultural extension workers</a:t>
            </a:r>
            <a:r>
              <a:rPr lang="en-US" dirty="0"/>
              <a:t> — to guide farmers on best practices region-wise and season-wise</a:t>
            </a:r>
            <a:endParaRPr lang="en-IN"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467359" y="1393979"/>
            <a:ext cx="9027702" cy="4300239"/>
          </a:xfrm>
        </p:spPr>
        <p:txBody>
          <a:bodyPr>
            <a:normAutofit fontScale="92500" lnSpcReduction="10000"/>
          </a:bodyPr>
          <a:lstStyle/>
          <a:p>
            <a:pPr marL="457200" lvl="1" indent="0">
              <a:lnSpc>
                <a:spcPct val="150000"/>
              </a:lnSpc>
              <a:buNone/>
            </a:pPr>
            <a:r>
              <a:rPr lang="en-IN" b="1" dirty="0"/>
              <a:t>Python</a:t>
            </a:r>
            <a:r>
              <a:rPr lang="en-IN" dirty="0"/>
              <a:t> — core programming language for the analysis </a:t>
            </a:r>
          </a:p>
          <a:p>
            <a:pPr marL="457200" lvl="1" indent="0">
              <a:lnSpc>
                <a:spcPct val="150000"/>
              </a:lnSpc>
              <a:buNone/>
            </a:pPr>
            <a:r>
              <a:rPr lang="en-IN" b="1" dirty="0"/>
              <a:t>Pandas</a:t>
            </a:r>
            <a:r>
              <a:rPr lang="en-IN" dirty="0"/>
              <a:t> — data loading, cleaning, and manipulation </a:t>
            </a:r>
          </a:p>
          <a:p>
            <a:pPr marL="457200" lvl="1" indent="0">
              <a:lnSpc>
                <a:spcPct val="150000"/>
              </a:lnSpc>
              <a:buNone/>
            </a:pPr>
            <a:r>
              <a:rPr lang="en-IN" b="1" dirty="0"/>
              <a:t>NumPy</a:t>
            </a:r>
            <a:r>
              <a:rPr lang="en-IN" dirty="0"/>
              <a:t> — numerical operations </a:t>
            </a:r>
          </a:p>
          <a:p>
            <a:pPr marL="457200" lvl="1" indent="0">
              <a:lnSpc>
                <a:spcPct val="150000"/>
              </a:lnSpc>
              <a:buNone/>
            </a:pPr>
            <a:r>
              <a:rPr lang="en-IN" b="1" dirty="0"/>
              <a:t>Matplotlib</a:t>
            </a:r>
            <a:r>
              <a:rPr lang="en-IN" dirty="0"/>
              <a:t> — data visualization (charts, plots) </a:t>
            </a:r>
          </a:p>
          <a:p>
            <a:pPr marL="457200" lvl="1" indent="0">
              <a:lnSpc>
                <a:spcPct val="150000"/>
              </a:lnSpc>
              <a:buNone/>
            </a:pPr>
            <a:r>
              <a:rPr lang="en-IN" b="1" dirty="0"/>
              <a:t>Seaborn</a:t>
            </a:r>
            <a:r>
              <a:rPr lang="en-IN" dirty="0"/>
              <a:t> — statistical visualizations (boxplots, heatmaps) </a:t>
            </a:r>
          </a:p>
          <a:p>
            <a:pPr marL="457200" lvl="1" indent="0">
              <a:lnSpc>
                <a:spcPct val="150000"/>
              </a:lnSpc>
              <a:buNone/>
            </a:pPr>
            <a:r>
              <a:rPr lang="en-IN" b="1" dirty="0"/>
              <a:t>SciPy</a:t>
            </a:r>
            <a:r>
              <a:rPr lang="en-IN" dirty="0"/>
              <a:t> — statistical testing (ANOVA) </a:t>
            </a:r>
          </a:p>
          <a:p>
            <a:pPr marL="457200" lvl="1" indent="0">
              <a:lnSpc>
                <a:spcPct val="150000"/>
              </a:lnSpc>
              <a:buNone/>
            </a:pPr>
            <a:r>
              <a:rPr lang="en-IN" b="1" dirty="0"/>
              <a:t>Google </a:t>
            </a:r>
            <a:r>
              <a:rPr lang="en-IN" b="1" dirty="0" err="1"/>
              <a:t>Colab</a:t>
            </a:r>
            <a:r>
              <a:rPr lang="en-IN" dirty="0"/>
              <a:t> — cloud-based notebook environment for coding and execution </a:t>
            </a:r>
          </a:p>
          <a:p>
            <a:pPr marL="457200" lvl="1" indent="0">
              <a:lnSpc>
                <a:spcPct val="150000"/>
              </a:lnSpc>
              <a:buNone/>
            </a:pPr>
            <a:r>
              <a:rPr lang="en-IN" b="1" dirty="0"/>
              <a:t>GitHub</a:t>
            </a:r>
            <a:r>
              <a:rPr lang="en-IN" dirty="0"/>
              <a:t> — version control and project hosting</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4F400933-239B-BC89-2CF3-C02E6AA301FB}"/>
              </a:ext>
            </a:extLst>
          </p:cNvPr>
          <p:cNvPicPr>
            <a:picLocks noChangeAspect="1"/>
          </p:cNvPicPr>
          <p:nvPr/>
        </p:nvPicPr>
        <p:blipFill>
          <a:blip r:embed="rId3"/>
          <a:stretch>
            <a:fillRect/>
          </a:stretch>
        </p:blipFill>
        <p:spPr>
          <a:xfrm>
            <a:off x="675957" y="1275371"/>
            <a:ext cx="10107468" cy="4314709"/>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6DF02569-9BD4-3417-A34B-482AA417CEC0}"/>
              </a:ext>
            </a:extLst>
          </p:cNvPr>
          <p:cNvPicPr>
            <a:picLocks noChangeAspect="1"/>
          </p:cNvPicPr>
          <p:nvPr/>
        </p:nvPicPr>
        <p:blipFill>
          <a:blip r:embed="rId3"/>
          <a:stretch>
            <a:fillRect/>
          </a:stretch>
        </p:blipFill>
        <p:spPr>
          <a:xfrm>
            <a:off x="675957" y="1391083"/>
            <a:ext cx="10042218" cy="4340974"/>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7BDC9-AE32-FE60-6549-92B19460AD7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C3F1425-A806-124B-46B1-AB466492D34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5C1117-F844-D8B7-54A4-C03242512EE8}"/>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B712EA0F-4FD6-A1A3-E950-4D232BD3CD4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98CAD0BE-70ED-8F22-F17E-1A8A342FA26C}"/>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3FC36230-144C-05B9-BAC1-02B819CB42BB}"/>
              </a:ext>
            </a:extLst>
          </p:cNvPr>
          <p:cNvPicPr>
            <a:picLocks noChangeAspect="1"/>
          </p:cNvPicPr>
          <p:nvPr/>
        </p:nvPicPr>
        <p:blipFill>
          <a:blip r:embed="rId3"/>
          <a:stretch>
            <a:fillRect/>
          </a:stretch>
        </p:blipFill>
        <p:spPr>
          <a:xfrm>
            <a:off x="675957" y="1608410"/>
            <a:ext cx="9850582" cy="4291415"/>
          </a:xfrm>
          <a:prstGeom prst="rect">
            <a:avLst/>
          </a:prstGeom>
        </p:spPr>
      </p:pic>
    </p:spTree>
    <p:extLst>
      <p:ext uri="{BB962C8B-B14F-4D97-AF65-F5344CB8AC3E}">
        <p14:creationId xmlns:p14="http://schemas.microsoft.com/office/powerpoint/2010/main" val="3227074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D3228-5BC5-F5DB-8739-1AE831852D3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7342845-C200-00E3-E517-92B1213047EF}"/>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E20D8B4-3FE5-B423-FF61-6B14C9A243C0}"/>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F8AD622A-3899-9F18-E8AD-17BF7AD0AF4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E5443F4-08F4-CAA1-B09E-5DC4977E57A9}"/>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1360FD0B-CFAD-3784-B9C4-F1B28FFDDF32}"/>
              </a:ext>
            </a:extLst>
          </p:cNvPr>
          <p:cNvPicPr>
            <a:picLocks noChangeAspect="1"/>
          </p:cNvPicPr>
          <p:nvPr/>
        </p:nvPicPr>
        <p:blipFill>
          <a:blip r:embed="rId3"/>
          <a:stretch>
            <a:fillRect/>
          </a:stretch>
        </p:blipFill>
        <p:spPr>
          <a:xfrm>
            <a:off x="675957" y="1275371"/>
            <a:ext cx="10163023" cy="4307258"/>
          </a:xfrm>
          <a:prstGeom prst="rect">
            <a:avLst/>
          </a:prstGeom>
        </p:spPr>
      </p:pic>
    </p:spTree>
    <p:extLst>
      <p:ext uri="{BB962C8B-B14F-4D97-AF65-F5344CB8AC3E}">
        <p14:creationId xmlns:p14="http://schemas.microsoft.com/office/powerpoint/2010/main" val="496097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B9C5A-891A-ABBB-0892-909039153C1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C8C4AE7-81C4-026B-CEE2-396755C04F9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00A23A66-C78D-C770-2F7E-DAC15CBC90E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99E5412C-2F92-69FF-00F8-A3436FDF2730}"/>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5C85A11D-ECAE-6EA1-45CD-6051EBD2F06D}"/>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A2476E3C-389B-F9CA-7718-14F179F1A880}"/>
              </a:ext>
            </a:extLst>
          </p:cNvPr>
          <p:cNvPicPr>
            <a:picLocks noChangeAspect="1"/>
          </p:cNvPicPr>
          <p:nvPr/>
        </p:nvPicPr>
        <p:blipFill>
          <a:blip r:embed="rId3"/>
          <a:stretch>
            <a:fillRect/>
          </a:stretch>
        </p:blipFill>
        <p:spPr>
          <a:xfrm>
            <a:off x="775855" y="1391548"/>
            <a:ext cx="9822873" cy="4340509"/>
          </a:xfrm>
          <a:prstGeom prst="rect">
            <a:avLst/>
          </a:prstGeom>
        </p:spPr>
      </p:pic>
    </p:spTree>
    <p:extLst>
      <p:ext uri="{BB962C8B-B14F-4D97-AF65-F5344CB8AC3E}">
        <p14:creationId xmlns:p14="http://schemas.microsoft.com/office/powerpoint/2010/main" val="3363005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7F235-4748-23B6-524D-1C31718BA7F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8E71E6E-E081-45C5-55C5-DD95252444A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C956E20-0DE2-DC33-33E9-C39DF7A37459}"/>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2419BB41-29ED-F121-C0DB-691F7A89DDC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C1C17F2-89B2-5AF6-00EC-95F6FA3D8888}"/>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204A663C-9FDC-1626-FE39-7E1A8D385F0F}"/>
              </a:ext>
            </a:extLst>
          </p:cNvPr>
          <p:cNvPicPr>
            <a:picLocks noChangeAspect="1"/>
          </p:cNvPicPr>
          <p:nvPr/>
        </p:nvPicPr>
        <p:blipFill>
          <a:blip r:embed="rId3"/>
          <a:stretch>
            <a:fillRect/>
          </a:stretch>
        </p:blipFill>
        <p:spPr>
          <a:xfrm>
            <a:off x="675957" y="1283961"/>
            <a:ext cx="10338407" cy="4448096"/>
          </a:xfrm>
          <a:prstGeom prst="rect">
            <a:avLst/>
          </a:prstGeom>
        </p:spPr>
      </p:pic>
    </p:spTree>
    <p:extLst>
      <p:ext uri="{BB962C8B-B14F-4D97-AF65-F5344CB8AC3E}">
        <p14:creationId xmlns:p14="http://schemas.microsoft.com/office/powerpoint/2010/main" val="864821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9DCB7-DC2F-DCEE-C845-9B220B1AE78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3C27E23-F0D2-2103-E131-C2A94B63F284}"/>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1C1D870-1441-816A-5377-FE390F38D7FD}"/>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F65318B4-F3D4-5515-E1F1-D0739073E1E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7ADAB2D-BF2C-1931-B9F5-E289363463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D7BEC8AD-6C96-7596-FD32-81E282829B42}"/>
              </a:ext>
            </a:extLst>
          </p:cNvPr>
          <p:cNvPicPr>
            <a:picLocks noChangeAspect="1"/>
          </p:cNvPicPr>
          <p:nvPr/>
        </p:nvPicPr>
        <p:blipFill>
          <a:blip r:embed="rId3"/>
          <a:stretch>
            <a:fillRect/>
          </a:stretch>
        </p:blipFill>
        <p:spPr>
          <a:xfrm>
            <a:off x="675957" y="1275371"/>
            <a:ext cx="10404785" cy="4499794"/>
          </a:xfrm>
          <a:prstGeom prst="rect">
            <a:avLst/>
          </a:prstGeom>
        </p:spPr>
      </p:pic>
    </p:spTree>
    <p:extLst>
      <p:ext uri="{BB962C8B-B14F-4D97-AF65-F5344CB8AC3E}">
        <p14:creationId xmlns:p14="http://schemas.microsoft.com/office/powerpoint/2010/main" val="1877848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A2B07-6BEA-D66E-7E01-17C724FE5B8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19E7B35-E76D-F8D7-CD4B-A5E4024BCD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3D388F8-7185-A4DD-B162-F52F54532FB8}"/>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1BC00796-3F00-0858-B109-58AAC029F2E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6F72B290-B206-8B53-0B9D-9DA2F0729DC8}"/>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E599DD88-38FB-7B8A-1005-61F69579952F}"/>
              </a:ext>
            </a:extLst>
          </p:cNvPr>
          <p:cNvPicPr>
            <a:picLocks noChangeAspect="1"/>
          </p:cNvPicPr>
          <p:nvPr/>
        </p:nvPicPr>
        <p:blipFill>
          <a:blip r:embed="rId3"/>
          <a:stretch>
            <a:fillRect/>
          </a:stretch>
        </p:blipFill>
        <p:spPr>
          <a:xfrm>
            <a:off x="675957" y="1275371"/>
            <a:ext cx="10404764" cy="4558050"/>
          </a:xfrm>
          <a:prstGeom prst="rect">
            <a:avLst/>
          </a:prstGeom>
        </p:spPr>
      </p:pic>
    </p:spTree>
    <p:extLst>
      <p:ext uri="{BB962C8B-B14F-4D97-AF65-F5344CB8AC3E}">
        <p14:creationId xmlns:p14="http://schemas.microsoft.com/office/powerpoint/2010/main" val="1556325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6BD37-E3D9-3FEA-3776-69E69849029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D44F3DC-D8DB-D9C6-CFDD-788869209D4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359D055-5583-10B3-A6E7-847FAB4F6E4B}"/>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B0E2EF37-CA66-24FB-EB6D-336AAE13885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01091A4-E987-46E2-7E0C-E505AA2D062B}"/>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331D1CB2-3223-8C3A-753A-09766B741202}"/>
              </a:ext>
            </a:extLst>
          </p:cNvPr>
          <p:cNvPicPr>
            <a:picLocks noChangeAspect="1"/>
          </p:cNvPicPr>
          <p:nvPr/>
        </p:nvPicPr>
        <p:blipFill>
          <a:blip r:embed="rId3"/>
          <a:stretch>
            <a:fillRect/>
          </a:stretch>
        </p:blipFill>
        <p:spPr>
          <a:xfrm>
            <a:off x="725037" y="1275371"/>
            <a:ext cx="10584873" cy="4537498"/>
          </a:xfrm>
          <a:prstGeom prst="rect">
            <a:avLst/>
          </a:prstGeom>
        </p:spPr>
      </p:pic>
    </p:spTree>
    <p:extLst>
      <p:ext uri="{BB962C8B-B14F-4D97-AF65-F5344CB8AC3E}">
        <p14:creationId xmlns:p14="http://schemas.microsoft.com/office/powerpoint/2010/main" val="3752678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30CDB-B766-4D92-35C2-2D912184862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29DA601-44ED-2A5B-6282-B9ECAC0D00A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19E17E2-2039-6712-9AFC-2D0D40974F01}"/>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723EBEEE-4999-FC07-9EE1-BEDAE7FAE7EC}"/>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903B2E03-A42A-5541-610A-02595F741ADB}"/>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E7F37BCF-A299-FBA1-5DA6-515E7F4C0E27}"/>
              </a:ext>
            </a:extLst>
          </p:cNvPr>
          <p:cNvPicPr>
            <a:picLocks noChangeAspect="1"/>
          </p:cNvPicPr>
          <p:nvPr/>
        </p:nvPicPr>
        <p:blipFill>
          <a:blip r:embed="rId3"/>
          <a:stretch>
            <a:fillRect/>
          </a:stretch>
        </p:blipFill>
        <p:spPr>
          <a:xfrm>
            <a:off x="675957" y="1275371"/>
            <a:ext cx="10072255" cy="4383296"/>
          </a:xfrm>
          <a:prstGeom prst="rect">
            <a:avLst/>
          </a:prstGeom>
        </p:spPr>
      </p:pic>
    </p:spTree>
    <p:extLst>
      <p:ext uri="{BB962C8B-B14F-4D97-AF65-F5344CB8AC3E}">
        <p14:creationId xmlns:p14="http://schemas.microsoft.com/office/powerpoint/2010/main" val="3321475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59575-EBBE-AE1B-A190-E839E5A4CA3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43CA448-82CC-65CF-41C2-3FB0BDC2DEF4}"/>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3B50A7D-1936-85B0-253C-B9B354FA56DC}"/>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E995FF24-3658-E73E-2A7B-961DC8E0663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3963D3D2-7DF1-99F9-DDE9-C329C21AE46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3FD423BF-C2AB-A627-7A88-08CB7DF0ADA1}"/>
              </a:ext>
            </a:extLst>
          </p:cNvPr>
          <p:cNvPicPr>
            <a:picLocks noChangeAspect="1"/>
          </p:cNvPicPr>
          <p:nvPr/>
        </p:nvPicPr>
        <p:blipFill>
          <a:blip r:embed="rId3"/>
          <a:stretch>
            <a:fillRect/>
          </a:stretch>
        </p:blipFill>
        <p:spPr>
          <a:xfrm>
            <a:off x="675957" y="1275371"/>
            <a:ext cx="10504661" cy="4368354"/>
          </a:xfrm>
          <a:prstGeom prst="rect">
            <a:avLst/>
          </a:prstGeom>
        </p:spPr>
      </p:pic>
    </p:spTree>
    <p:extLst>
      <p:ext uri="{BB962C8B-B14F-4D97-AF65-F5344CB8AC3E}">
        <p14:creationId xmlns:p14="http://schemas.microsoft.com/office/powerpoint/2010/main" val="3455942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2C537-D6E3-3989-AD8A-9B213F00B4B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DBE039B-08D0-2660-D1BF-7B2BA1B017E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308F27-FA45-D483-18E3-F0397A372163}"/>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EBDF3C5-5C03-1D2C-2F84-B99CB1A2BB36}"/>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9E340AD-945E-6F0E-395B-167F819CD523}"/>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9EE66960-DE93-A2B2-0DB6-D0C1A1756887}"/>
              </a:ext>
            </a:extLst>
          </p:cNvPr>
          <p:cNvPicPr>
            <a:picLocks noChangeAspect="1"/>
          </p:cNvPicPr>
          <p:nvPr/>
        </p:nvPicPr>
        <p:blipFill>
          <a:blip r:embed="rId3"/>
          <a:stretch>
            <a:fillRect/>
          </a:stretch>
        </p:blipFill>
        <p:spPr>
          <a:xfrm>
            <a:off x="675957" y="1275371"/>
            <a:ext cx="9918223" cy="4152331"/>
          </a:xfrm>
          <a:prstGeom prst="rect">
            <a:avLst/>
          </a:prstGeom>
        </p:spPr>
      </p:pic>
    </p:spTree>
    <p:extLst>
      <p:ext uri="{BB962C8B-B14F-4D97-AF65-F5344CB8AC3E}">
        <p14:creationId xmlns:p14="http://schemas.microsoft.com/office/powerpoint/2010/main" val="1356112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EA6EF-7CA2-9DBC-6617-DA89A902F72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85BC4CD-CC26-97BE-8EDB-BBE3B9187BD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374D684-8E34-688B-B24D-0E72C8E715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A06F3EA8-BAB0-C3C4-8FDC-1A640B73F13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5FE06E31-656E-9EBC-25B9-B19A213B0663}"/>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9B008937-9EEF-D790-B405-71E51EB52455}"/>
              </a:ext>
            </a:extLst>
          </p:cNvPr>
          <p:cNvPicPr>
            <a:picLocks noChangeAspect="1"/>
          </p:cNvPicPr>
          <p:nvPr/>
        </p:nvPicPr>
        <p:blipFill>
          <a:blip r:embed="rId3"/>
          <a:stretch>
            <a:fillRect/>
          </a:stretch>
        </p:blipFill>
        <p:spPr>
          <a:xfrm>
            <a:off x="675957" y="1275371"/>
            <a:ext cx="10310698" cy="4485621"/>
          </a:xfrm>
          <a:prstGeom prst="rect">
            <a:avLst/>
          </a:prstGeom>
        </p:spPr>
      </p:pic>
    </p:spTree>
    <p:extLst>
      <p:ext uri="{BB962C8B-B14F-4D97-AF65-F5344CB8AC3E}">
        <p14:creationId xmlns:p14="http://schemas.microsoft.com/office/powerpoint/2010/main" val="3422490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29DFA-0827-F210-8192-E6A788FC38D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ED555D3-850F-1872-438E-72349BF80C5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81EEE055-7888-CDA6-E89A-4D5CFC3355CD}"/>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1479E10-C8F7-831E-AE3B-92319D7E1C03}"/>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4624CC4E-AC8B-5E89-20FE-155BF56AD82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998316C8-CC5B-C3F3-456F-907DE24FA51C}"/>
              </a:ext>
            </a:extLst>
          </p:cNvPr>
          <p:cNvPicPr>
            <a:picLocks noChangeAspect="1"/>
          </p:cNvPicPr>
          <p:nvPr/>
        </p:nvPicPr>
        <p:blipFill>
          <a:blip r:embed="rId3"/>
          <a:stretch>
            <a:fillRect/>
          </a:stretch>
        </p:blipFill>
        <p:spPr>
          <a:xfrm>
            <a:off x="775855" y="1322260"/>
            <a:ext cx="10303673" cy="4732176"/>
          </a:xfrm>
          <a:prstGeom prst="rect">
            <a:avLst/>
          </a:prstGeom>
        </p:spPr>
      </p:pic>
    </p:spTree>
    <p:extLst>
      <p:ext uri="{BB962C8B-B14F-4D97-AF65-F5344CB8AC3E}">
        <p14:creationId xmlns:p14="http://schemas.microsoft.com/office/powerpoint/2010/main" val="2120928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6" y="370589"/>
            <a:ext cx="6445279" cy="830997"/>
          </a:xfrm>
        </p:spPr>
        <p:txBody>
          <a:bodyPr>
            <a:normAutofit fontScale="90000"/>
          </a:bodyPr>
          <a:lstStyle/>
          <a:p>
            <a:r>
              <a:rPr lang="en-IN" sz="4000" dirty="0"/>
              <a:t>Future scope</a:t>
            </a:r>
            <a:br>
              <a:rPr lang="en-IN" sz="4000" dirty="0"/>
            </a:br>
            <a:br>
              <a:rPr lang="en-IN" sz="4000" dirty="0"/>
            </a:br>
            <a:r>
              <a:rPr lang="en-US" sz="2200" dirty="0"/>
              <a:t>Apply machine learning models to predict yield or profit based on season, crop, and environmental factors Build an interactive dashboard (Power BI / Tableau) for real-time seasonal monitoring Include real-time weather and satellite data for more accurate seasonal forecasting Extend the analysis to more regions/states and longer time periods for deeper trend detection Study the impact of climate change on long-term seasonal agricultural performance Integrate market price forecasting to help farmers time their sales better Develop a mobile app for farmers to get season-wise crop and resource recommendations</a:t>
            </a:r>
            <a:endParaRPr lang="en-IN" sz="2200" dirty="0"/>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675957" y="1201586"/>
            <a:ext cx="6377724" cy="666078"/>
          </a:xfrm>
          <a:prstGeom prst="rect">
            <a:avLst/>
          </a:prstGeom>
        </p:spPr>
        <p:txBody>
          <a:bodyPr vert="horz" lIns="91440" tIns="45720" rIns="91440" bIns="45720" rtlCol="0">
            <a:normAutofit fontScale="92500"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sz="2000"/>
              <a:t>https://github.com/Vaidehikings/seasonal-agriculture-performance-analysis.git</a:t>
            </a:r>
            <a:endParaRPr lang="en-GB" sz="2000"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D5790736-B395-7C3A-5E85-4E1FAB653DC5}"/>
              </a:ext>
            </a:extLst>
          </p:cNvPr>
          <p:cNvPicPr>
            <a:picLocks noChangeAspect="1"/>
          </p:cNvPicPr>
          <p:nvPr/>
        </p:nvPicPr>
        <p:blipFill>
          <a:blip r:embed="rId3"/>
          <a:stretch>
            <a:fillRect/>
          </a:stretch>
        </p:blipFill>
        <p:spPr>
          <a:xfrm>
            <a:off x="570877" y="1461749"/>
            <a:ext cx="6868484" cy="4848902"/>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582</TotalTime>
  <Words>429</Words>
  <Application>Microsoft Office PowerPoint</Application>
  <PresentationFormat>Widescreen</PresentationFormat>
  <Paragraphs>40</Paragraphs>
  <Slides>23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Trebuchet MS</vt:lpstr>
      <vt:lpstr>Wingdings</vt:lpstr>
      <vt:lpstr>Wingdings 3</vt:lpstr>
      <vt:lpstr>Facet</vt:lpstr>
      <vt:lpstr>Project Title - Seasonal Agriculture Performance Analysis</vt:lpstr>
      <vt:lpstr>PROBLEM  STATEMENT</vt:lpstr>
      <vt:lpstr>Project Description  Data analytics project analyzing seasonal agricultural performance (Kharif, Rabi, Zaid) across Indian farms — yield, cost, profit, and resource usage trends using Python, Pandas, and Seaborn. </vt:lpstr>
      <vt:lpstr>WHO ARE THE END USERS?</vt:lpstr>
      <vt:lpstr>Technology Used</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Future scope  Apply machine learning models to predict yield or profit based on season, crop, and environmental factors Build an interactive dashboard (Power BI / Tableau) for real-time seasonal monitoring Include real-time weather and satellite data for more accurate seasonal forecasting Extend the analysis to more regions/states and longer time periods for deeper trend detection Study the impact of climate change on long-term seasonal agricultural performance Integrate market price forecasting to help farmers time their sales better Develop a mobile app for farmers to get season-wise crop and resource recommendations</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Vaidehi Kingaonkar</cp:lastModifiedBy>
  <cp:revision>98</cp:revision>
  <dcterms:created xsi:type="dcterms:W3CDTF">2021-07-11T13:13:15Z</dcterms:created>
  <dcterms:modified xsi:type="dcterms:W3CDTF">2026-09-05T19:41:34Z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